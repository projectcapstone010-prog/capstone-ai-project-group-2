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390" r:id="rId2"/>
    <p:sldId id="689" r:id="rId3"/>
    <p:sldId id="700" r:id="rId4"/>
    <p:sldId id="258" r:id="rId5"/>
    <p:sldId id="690" r:id="rId6"/>
    <p:sldId id="691" r:id="rId7"/>
    <p:sldId id="692" r:id="rId8"/>
    <p:sldId id="693" r:id="rId9"/>
    <p:sldId id="694" r:id="rId10"/>
    <p:sldId id="695" r:id="rId11"/>
    <p:sldId id="696" r:id="rId12"/>
    <p:sldId id="697" r:id="rId13"/>
    <p:sldId id="698" r:id="rId14"/>
    <p:sldId id="69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249" autoAdjust="0"/>
  </p:normalViewPr>
  <p:slideViewPr>
    <p:cSldViewPr snapToGrid="0" snapToObjects="1">
      <p:cViewPr varScale="1">
        <p:scale>
          <a:sx n="73" d="100"/>
          <a:sy n="73" d="100"/>
        </p:scale>
        <p:origin x="708" y="84"/>
      </p:cViewPr>
      <p:guideLst/>
    </p:cSldViewPr>
  </p:slideViewPr>
  <p:outlineViewPr>
    <p:cViewPr>
      <p:scale>
        <a:sx n="33" d="100"/>
        <a:sy n="33" d="100"/>
      </p:scale>
      <p:origin x="0" y="-1517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852CB-AE14-7945-98A2-B8B8F170731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692B4-C9B4-AB48-8D18-38C558AB60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9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1CBC6-009B-0242-8AAE-072898491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69556-91FA-4E46-A1CF-475D82A62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D6A00-F518-5241-B43D-D77F3F2C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8EF0E-BAE5-A846-8CF7-4E481B085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E94E6-6AA6-544B-92B5-C19AA20A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9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B8A9-B854-D141-AFF1-F19ECAB9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DE740-BD60-BE48-A587-2984AD1F2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09D62-D47F-8E48-960D-565ABB3A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A42A9-0864-F746-830D-E93AADF30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2DF71-278E-F54E-A775-E3ABCC478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6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DC68-3FFF-2844-93D9-32957B6A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01F32-380C-AB4B-A26A-1FD58575D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DF28D-42B3-5F4C-A541-A381E6F9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0F97-D2C8-C94A-AE15-08B69361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88A03-424E-734D-8BC1-C99ED62E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2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33E7-1E6A-9046-B88D-7CA013B79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7AF5F-3AB8-9C44-A93A-8C0B5E958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B5AD3-4D06-A54B-B2A8-D6A337D04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EAB4D-A927-9A4B-BDC6-6E0F48B3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FF4DD-BDEB-CA4A-BC38-30F7EB96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845B1-DFA5-2548-ADAC-421C79CD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7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6345-A284-7B43-B5AA-9BB877F4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1F286-A008-3E46-B6B2-ED7688955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2429E-F61C-2042-904D-2EDC54D72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3C668-E5AF-AE42-936E-19A53BFBD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3DE37-F580-554E-8180-177D636F6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550F23-5119-5346-AC55-E1772C4C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C95D3-2941-0344-80F7-47A17B2C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5C97CF-C66D-D441-8156-D0A46E61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51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E33E-6619-8844-BCA6-74974610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03F87-7BD9-314C-8304-820F62BD3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627BD-3284-084C-BD3C-CB67823F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E8421-DD44-6648-8AD4-054F4A57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46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39F19-8694-A849-88A0-3A93C1DB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4F676-E95B-384F-8AEE-E642793C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B36A6-DCF7-5549-9CA6-395B8992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43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45F4-16F6-444D-A3EF-ABC9E1B38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EB53A-2DDB-5D4F-837D-E849393F4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3D194-BD71-AE41-818D-DE03D6E7E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A521C-A8AA-AF4E-81B4-DD8C9D40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00C6C-B70E-4044-BDEF-FFD2B2C0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1050E-922D-3C49-8B73-96253D599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29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D499-AA9E-D141-8CBF-FD449CEC7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E78FB6-C245-B846-B76C-83BD12DFF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52C73-42D5-6544-89D6-D0A22B981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F8784-D5E2-2744-A7E0-1820757A0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91EC5-AEDB-F64B-8D65-A6CEC474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1E9AF-5E24-6244-814F-B26DA319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9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2372-FC50-4A4D-9B4E-8AD9A482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68FDE-BF44-1642-A42A-617D92B99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028C1-E5B4-0841-9722-8A73345BF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994B7-1EB0-C44B-A51F-26E32EA9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61EF-B809-D344-B064-B2470671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7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2BA79-B79D-FF42-A64D-67B5958B7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A532A-2CF5-4C4F-A93C-0851AE214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87670-1478-D449-B692-DEC12886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F15F0-02C8-E845-84D7-07152869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C3AA0-2E20-4943-ADDD-271AA4DD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4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72628-0229-944B-92FD-EFF6E95E3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186B-7958-1E4C-A9BE-2DCCC56A0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5A094-C2F4-5843-BCCF-57FBA0EB2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98864-37FB-1341-82BF-EEC17053344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9E160-77A8-4945-AE49-C653849CB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EF98C-E52E-EA48-8F27-CAE5E3D6E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49CC1-0AEC-A144-BA49-A6C3FE7DD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8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53BE55-C5C6-034F-9474-2D8639B3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9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D79B10-3673-0147-8C32-BAE3A1726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58256"/>
            <a:ext cx="12192000" cy="99974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89A3A73-7B28-4961-89F6-3734A0839217}"/>
              </a:ext>
            </a:extLst>
          </p:cNvPr>
          <p:cNvSpPr/>
          <p:nvPr/>
        </p:nvSpPr>
        <p:spPr>
          <a:xfrm>
            <a:off x="1805" y="-71120"/>
            <a:ext cx="12192000" cy="130829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DEFAULT CLASSIFICATION FOR MICROFINANCE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A3A73-7B28-4961-89F6-3734A0839217}"/>
              </a:ext>
            </a:extLst>
          </p:cNvPr>
          <p:cNvSpPr/>
          <p:nvPr/>
        </p:nvSpPr>
        <p:spPr>
          <a:xfrm>
            <a:off x="-1806" y="5160936"/>
            <a:ext cx="12192000" cy="66176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180822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-42108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Rectangle 7"/>
          <p:cNvSpPr/>
          <p:nvPr/>
        </p:nvSpPr>
        <p:spPr>
          <a:xfrm>
            <a:off x="3467926" y="42265"/>
            <a:ext cx="57391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EC69C18-54E0-4F26-901D-C7D960B01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22375"/>
              </p:ext>
            </p:extLst>
          </p:nvPr>
        </p:nvGraphicFramePr>
        <p:xfrm>
          <a:off x="888549" y="1057032"/>
          <a:ext cx="10897888" cy="47439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5931">
                  <a:extLst>
                    <a:ext uri="{9D8B030D-6E8A-4147-A177-3AD203B41FA5}">
                      <a16:colId xmlns:a16="http://schemas.microsoft.com/office/drawing/2014/main" val="1201804291"/>
                    </a:ext>
                  </a:extLst>
                </a:gridCol>
                <a:gridCol w="6183227">
                  <a:extLst>
                    <a:ext uri="{9D8B030D-6E8A-4147-A177-3AD203B41FA5}">
                      <a16:colId xmlns:a16="http://schemas.microsoft.com/office/drawing/2014/main" val="3683611932"/>
                    </a:ext>
                  </a:extLst>
                </a:gridCol>
                <a:gridCol w="3768730">
                  <a:extLst>
                    <a:ext uri="{9D8B030D-6E8A-4147-A177-3AD203B41FA5}">
                      <a16:colId xmlns:a16="http://schemas.microsoft.com/office/drawing/2014/main" val="2159226333"/>
                    </a:ext>
                  </a:extLst>
                </a:gridCol>
              </a:tblGrid>
              <a:tr h="677705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MEMBERS</a:t>
                      </a:r>
                      <a:endParaRPr lang="en-GH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612566"/>
                  </a:ext>
                </a:extLst>
              </a:tr>
              <a:tr h="67770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S/N</a:t>
                      </a:r>
                      <a:endParaRPr lang="en-GH" sz="2400" b="1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GH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ID</a:t>
                      </a:r>
                      <a:endParaRPr lang="en-GH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322117"/>
                  </a:ext>
                </a:extLst>
              </a:tr>
              <a:tr h="67770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KICHASU WUGAJAH VICTOR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PUIT/22110014</a:t>
                      </a:r>
                      <a:endParaRPr lang="en-GH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8663223"/>
                  </a:ext>
                </a:extLst>
              </a:tr>
              <a:tr h="67770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ELIZABETH AGBO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PUIT/22110033</a:t>
                      </a:r>
                      <a:endParaRPr lang="en-GH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2511189"/>
                  </a:ext>
                </a:extLst>
              </a:tr>
              <a:tr h="67770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ALBERT AGYEI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PUIT/22217130</a:t>
                      </a:r>
                      <a:endParaRPr lang="en-GH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2623514"/>
                  </a:ext>
                </a:extLst>
              </a:tr>
              <a:tr h="67770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YAA ABBAN AMOANI 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H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4558764"/>
                  </a:ext>
                </a:extLst>
              </a:tr>
              <a:tr h="67770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EUGENE ANTWI</a:t>
                      </a:r>
                      <a:endParaRPr lang="en-GH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H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761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34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920" y="957636"/>
            <a:ext cx="11694160" cy="443761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Microfinance institutions (MFIs) offer small loans to individuals and small businesses excluded from traditional banks.Major challenge: loan defaults.Goal: Use machine learning to predict loan default likelihood.Importance: Supports financial inclusion and risk reduction.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-42108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Rectangle 7"/>
          <p:cNvSpPr/>
          <p:nvPr/>
        </p:nvSpPr>
        <p:spPr>
          <a:xfrm>
            <a:off x="3467927" y="42265"/>
            <a:ext cx="51859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9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704497" y="988246"/>
            <a:ext cx="10984637" cy="4881507"/>
          </a:xfrm>
        </p:spPr>
        <p:txBody>
          <a:bodyPr>
            <a:normAutofit fontScale="92500" lnSpcReduction="20000"/>
          </a:bodyPr>
          <a:lstStyle/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assessment of loan applications is slow and prone to errors.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loan default rates reduce MFI sustainability.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classification model to identify high-risk borrowers.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4125" y="0"/>
            <a:ext cx="71653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3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704497" y="988246"/>
            <a:ext cx="10984637" cy="4881507"/>
          </a:xfrm>
        </p:spPr>
        <p:txBody>
          <a:bodyPr>
            <a:normAutofit fontScale="92500"/>
          </a:bodyPr>
          <a:lstStyle/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predictive model for loan default classification.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critical risk factors influencing default.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decision-making for microfinance institutions.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data-driven lending practices in Ghana.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4125" y="0"/>
            <a:ext cx="71653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56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704497" y="988246"/>
            <a:ext cx="10984637" cy="4881507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Phases: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(Kaggle, UCI, or Dummy Dataset)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(Cleaning, Encoding, Scaling)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(Logistic Regression, Random Forest, SVM)</a:t>
            </a:r>
          </a:p>
          <a:p>
            <a:pPr marL="742950" indent="-742950" algn="just">
              <a:lnSpc>
                <a:spcPct val="200000"/>
              </a:lnSpc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(Accuracy, Confusion Matrix, F1-Score)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4920" y="23603"/>
            <a:ext cx="88837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OVERVIEW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50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23603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704497" y="988246"/>
            <a:ext cx="10984637" cy="4881507"/>
          </a:xfrm>
        </p:spPr>
        <p:txBody>
          <a:bodyPr>
            <a:normAutofit fontScale="85000" lnSpcReduction="10000"/>
          </a:bodyPr>
          <a:lstStyle/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features include:</a:t>
            </a:r>
          </a:p>
          <a:p>
            <a:pPr marL="1028700" lvl="1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Income, Loan Amount, Employment Type, Credit Score, Loan Duration.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Default Status (0 = Non-Default, 1 = Default)</a:t>
            </a:r>
          </a:p>
          <a:p>
            <a:pPr marL="571500" indent="-5715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dataset available, synthetic data created using Python.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2800" y="23603"/>
            <a:ext cx="88837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458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23603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03681" y="939357"/>
            <a:ext cx="10984637" cy="4966264"/>
          </a:xfrm>
        </p:spPr>
        <p:txBody>
          <a:bodyPr>
            <a:no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</a:p>
          <a:p>
            <a:pPr marL="10287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(Baseline)</a:t>
            </a:r>
          </a:p>
          <a:p>
            <a:pPr marL="10287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(Handles mixed data)</a:t>
            </a:r>
          </a:p>
          <a:p>
            <a:pPr marL="1028700" lvl="1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(High accuracy)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Code Snippet:</a:t>
            </a:r>
          </a:p>
          <a:p>
            <a:pPr lvl="3"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3" algn="just">
              <a:lnSpc>
                <a:spcPct val="15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3" algn="just">
              <a:lnSpc>
                <a:spcPct val="15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3"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print("Accuracy:",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82800" y="23603"/>
            <a:ext cx="88837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449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23603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03681" y="939357"/>
            <a:ext cx="10984637" cy="4966264"/>
          </a:xfrm>
        </p:spPr>
        <p:txBody>
          <a:bodyPr>
            <a:noAutofit/>
          </a:bodyPr>
          <a:lstStyle/>
          <a:p>
            <a:pPr marL="571500" indent="-5715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</a:t>
            </a:r>
          </a:p>
          <a:p>
            <a:pPr marL="1028700" lvl="1" indent="-5715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1028700" lvl="1" indent="-5715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&amp; Recall</a:t>
            </a:r>
          </a:p>
          <a:p>
            <a:pPr marL="1028700" lvl="1" indent="-5715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  <a:p>
            <a:pPr marL="1028700" lvl="1" indent="-5715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  <a:p>
            <a:pPr marL="571500" indent="-5715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Result:</a:t>
            </a:r>
          </a:p>
          <a:p>
            <a:pPr marL="1028700" lvl="1" indent="-5715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87%</a:t>
            </a:r>
          </a:p>
          <a:p>
            <a:pPr marL="1028700" lvl="1" indent="-5715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[[45 5]</a:t>
            </a:r>
          </a:p>
          <a:p>
            <a:pPr lvl="2"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 11]]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65964" y="13770"/>
            <a:ext cx="66617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56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23603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>
          <a:xfrm>
            <a:off x="1971559" y="61065"/>
            <a:ext cx="82488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A36FED-992A-48CC-98FA-1FE0C1243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960754"/>
              </p:ext>
            </p:extLst>
          </p:nvPr>
        </p:nvGraphicFramePr>
        <p:xfrm>
          <a:off x="431973" y="1060809"/>
          <a:ext cx="11143070" cy="4707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944">
                  <a:extLst>
                    <a:ext uri="{9D8B030D-6E8A-4147-A177-3AD203B41FA5}">
                      <a16:colId xmlns:a16="http://schemas.microsoft.com/office/drawing/2014/main" val="3704406397"/>
                    </a:ext>
                  </a:extLst>
                </a:gridCol>
                <a:gridCol w="3744855">
                  <a:extLst>
                    <a:ext uri="{9D8B030D-6E8A-4147-A177-3AD203B41FA5}">
                      <a16:colId xmlns:a16="http://schemas.microsoft.com/office/drawing/2014/main" val="3948655281"/>
                    </a:ext>
                  </a:extLst>
                </a:gridCol>
                <a:gridCol w="4866271">
                  <a:extLst>
                    <a:ext uri="{9D8B030D-6E8A-4147-A177-3AD203B41FA5}">
                      <a16:colId xmlns:a16="http://schemas.microsoft.com/office/drawing/2014/main" val="3663452850"/>
                    </a:ext>
                  </a:extLst>
                </a:gridCol>
              </a:tblGrid>
              <a:tr h="941509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804429"/>
                  </a:ext>
                </a:extLst>
              </a:tr>
              <a:tr h="941509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i3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i5+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968768"/>
                  </a:ext>
                </a:extLst>
              </a:tr>
              <a:tr h="941509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3685977"/>
                  </a:ext>
                </a:extLst>
              </a:tr>
              <a:tr h="941509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GB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803806"/>
                  </a:ext>
                </a:extLst>
              </a:tr>
              <a:tr h="941509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11/ macOS 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698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073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23603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2551" y="1016773"/>
            <a:ext cx="11286897" cy="4966264"/>
          </a:xfrm>
        </p:spPr>
        <p:txBody>
          <a:bodyPr>
            <a:noAutofit/>
          </a:bodyPr>
          <a:lstStyle/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classification of borrowers (80–90% accuracy).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key features influencing default.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 of model outcomes.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decision-making for MFIs.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865964" y="13770"/>
            <a:ext cx="66617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62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23603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52551" y="801947"/>
            <a:ext cx="11286897" cy="5272421"/>
          </a:xfrm>
        </p:spPr>
        <p:txBody>
          <a:bodyPr>
            <a:noAutofit/>
          </a:bodyPr>
          <a:lstStyle/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Ghanaian MFIs and fintech services.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default risk and improves loan recovery.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integrate with mobile money lending platforms (e.g., MTN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QwikLoan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Zeepay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responsible lending and economic empowerment.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6916" y="140110"/>
            <a:ext cx="85798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RELEVANCE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707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23603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65758" y="1023347"/>
            <a:ext cx="11662117" cy="4567618"/>
          </a:xfrm>
        </p:spPr>
        <p:txBody>
          <a:bodyPr>
            <a:noAutofit/>
          </a:bodyPr>
          <a:lstStyle/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enhances microfinance decision-making.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risk assessment, ensuring fair and accurate predictions.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financial inclusion and sustainability.</a:t>
            </a:r>
          </a:p>
          <a:p>
            <a:pPr marL="571500" indent="-5715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technical understanding and real-world impact.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3877" y="107976"/>
            <a:ext cx="46042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305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E778-D6F3-4DCB-8DC4-DB2E83C1088D}"/>
              </a:ext>
            </a:extLst>
          </p:cNvPr>
          <p:cNvSpPr txBox="1">
            <a:spLocks/>
          </p:cNvSpPr>
          <p:nvPr/>
        </p:nvSpPr>
        <p:spPr>
          <a:xfrm>
            <a:off x="365759" y="1267036"/>
            <a:ext cx="11662117" cy="38817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 algn="just">
              <a:buFont typeface="Wingdings" panose="05000000000000000000" pitchFamily="2" charset="2"/>
              <a:buChar char="q"/>
              <a:defRPr/>
            </a:pPr>
            <a:endParaRPr lang="en-GB" sz="1100" b="1" dirty="0"/>
          </a:p>
          <a:p>
            <a:pPr marL="365760" indent="-283464" algn="just">
              <a:buFont typeface="Wingdings 2"/>
              <a:buChar char=""/>
              <a:defRPr/>
            </a:pPr>
            <a:endParaRPr lang="en-GB" sz="4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1460B-851F-4BED-A9C4-2291CB294030}"/>
              </a:ext>
            </a:extLst>
          </p:cNvPr>
          <p:cNvSpPr txBox="1"/>
          <p:nvPr/>
        </p:nvSpPr>
        <p:spPr>
          <a:xfrm>
            <a:off x="2499360" y="0"/>
            <a:ext cx="76098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ASSIGNMENT STATEMENT</a:t>
            </a:r>
          </a:p>
          <a:p>
            <a:endParaRPr lang="da-DK" sz="24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23603"/>
            <a:ext cx="12192000" cy="7050509"/>
            <a:chOff x="0" y="0"/>
            <a:chExt cx="12192000" cy="70505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3D645B-40D1-46F1-AE53-718C35090E01}"/>
                </a:ext>
              </a:extLst>
            </p:cNvPr>
            <p:cNvSpPr/>
            <p:nvPr/>
          </p:nvSpPr>
          <p:spPr>
            <a:xfrm>
              <a:off x="0" y="0"/>
              <a:ext cx="12192000" cy="999744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34A0021-6840-A945-833A-8631F2060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050765"/>
              <a:ext cx="12192000" cy="999744"/>
            </a:xfrm>
            <a:prstGeom prst="rect">
              <a:avLst/>
            </a:prstGeom>
          </p:spPr>
        </p:pic>
      </p:grp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65758" y="771098"/>
            <a:ext cx="11662117" cy="4567618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Z.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Begiev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Loan Default Prediction Dataset, Kaggle, 2023.</a:t>
            </a:r>
          </a:p>
          <a:p>
            <a:pPr algn="l"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UCI ML Repository, German Credit Data, 2022.</a:t>
            </a:r>
          </a:p>
          <a:p>
            <a:pPr algn="l"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F.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Pedregosa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-learn: Machine Learning in Python, JMLR, 2011.</a:t>
            </a:r>
          </a:p>
          <a:p>
            <a:pPr algn="l">
              <a:lnSpc>
                <a:spcPct val="2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Python Software Foundation, Python 3.10 Documentation,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3877" y="107976"/>
            <a:ext cx="46042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5970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5806</TotalTime>
  <Words>565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Wingdings 2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Albert Agyei</cp:lastModifiedBy>
  <cp:revision>222</cp:revision>
  <dcterms:created xsi:type="dcterms:W3CDTF">2020-11-26T16:28:29Z</dcterms:created>
  <dcterms:modified xsi:type="dcterms:W3CDTF">2025-11-10T01:05:25Z</dcterms:modified>
</cp:coreProperties>
</file>